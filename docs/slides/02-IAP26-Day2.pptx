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notesMasterIdLst>
    <p:notesMasterId r:id="rId21"/>
  </p:notesMasterIdLst>
  <p:sldIdLst>
    <p:sldId id="256" r:id="rId2"/>
    <p:sldId id="1002" r:id="rId3"/>
    <p:sldId id="391" r:id="rId4"/>
    <p:sldId id="995" r:id="rId5"/>
    <p:sldId id="765" r:id="rId6"/>
    <p:sldId id="981" r:id="rId7"/>
    <p:sldId id="982" r:id="rId8"/>
    <p:sldId id="983" r:id="rId9"/>
    <p:sldId id="984" r:id="rId10"/>
    <p:sldId id="985" r:id="rId11"/>
    <p:sldId id="986" r:id="rId12"/>
    <p:sldId id="988" r:id="rId13"/>
    <p:sldId id="997" r:id="rId14"/>
    <p:sldId id="1000" r:id="rId15"/>
    <p:sldId id="1001" r:id="rId16"/>
    <p:sldId id="264" r:id="rId17"/>
    <p:sldId id="276" r:id="rId18"/>
    <p:sldId id="987" r:id="rId19"/>
    <p:sldId id="3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clrMru>
    <a:srgbClr val="12A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88571" autoAdjust="0"/>
  </p:normalViewPr>
  <p:slideViewPr>
    <p:cSldViewPr snapToGrid="0" snapToObjects="1">
      <p:cViewPr varScale="1">
        <p:scale>
          <a:sx n="107" d="100"/>
          <a:sy n="107" d="100"/>
        </p:scale>
        <p:origin x="68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3C65C-C61C-0C44-BE53-CD4E23C09CC1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C7BC8-50B2-A345-901D-1179A6286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4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BC8-50B2-A345-901D-1179A6286E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54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BC8-50B2-A345-901D-1179A6286E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77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Wikimedia commons: http://</a:t>
            </a:r>
            <a:r>
              <a:rPr lang="en-US" dirty="0" err="1"/>
              <a:t>pixabay.com</a:t>
            </a:r>
            <a:r>
              <a:rPr lang="en-US" dirty="0"/>
              <a:t>/</a:t>
            </a:r>
            <a:r>
              <a:rPr lang="en-US" dirty="0" err="1"/>
              <a:t>pt</a:t>
            </a:r>
            <a:r>
              <a:rPr lang="en-US" dirty="0"/>
              <a:t>/grampo-documento-pilha-antigo-160414/</a:t>
            </a:r>
          </a:p>
          <a:p>
            <a:r>
              <a:rPr lang="en-US" dirty="0"/>
              <a:t>Image is in the public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FBA5-F957-4CE9-A734-9CFA9C4F560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577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Wikimedia commons: http://</a:t>
            </a:r>
            <a:r>
              <a:rPr lang="en-US" dirty="0" err="1"/>
              <a:t>pixabay.com</a:t>
            </a:r>
            <a:r>
              <a:rPr lang="en-US" dirty="0"/>
              <a:t>/</a:t>
            </a:r>
            <a:r>
              <a:rPr lang="en-US" dirty="0" err="1"/>
              <a:t>pt</a:t>
            </a:r>
            <a:r>
              <a:rPr lang="en-US" dirty="0"/>
              <a:t>/grampo-documento-pilha-antigo-160414/</a:t>
            </a:r>
          </a:p>
          <a:p>
            <a:r>
              <a:rPr lang="en-US" dirty="0"/>
              <a:t>Image is in the public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FBA5-F957-4CE9-A734-9CFA9C4F560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43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Wikimedia commons: http://</a:t>
            </a:r>
            <a:r>
              <a:rPr lang="en-US" dirty="0" err="1"/>
              <a:t>pixabay.com</a:t>
            </a:r>
            <a:r>
              <a:rPr lang="en-US" dirty="0"/>
              <a:t>/</a:t>
            </a:r>
            <a:r>
              <a:rPr lang="en-US" dirty="0" err="1"/>
              <a:t>pt</a:t>
            </a:r>
            <a:r>
              <a:rPr lang="en-US" dirty="0"/>
              <a:t>/grampo-documento-pilha-antigo-160414/</a:t>
            </a:r>
          </a:p>
          <a:p>
            <a:r>
              <a:rPr lang="en-US" dirty="0"/>
              <a:t>Image is in the public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FBA5-F957-4CE9-A734-9CFA9C4F560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52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Wikimedia commons: http://</a:t>
            </a:r>
            <a:r>
              <a:rPr lang="en-US" dirty="0" err="1"/>
              <a:t>pixabay.com</a:t>
            </a:r>
            <a:r>
              <a:rPr lang="en-US" dirty="0"/>
              <a:t>/</a:t>
            </a:r>
            <a:r>
              <a:rPr lang="en-US" dirty="0" err="1"/>
              <a:t>pt</a:t>
            </a:r>
            <a:r>
              <a:rPr lang="en-US" dirty="0"/>
              <a:t>/grampo-documento-pilha-antigo-160414/</a:t>
            </a:r>
          </a:p>
          <a:p>
            <a:r>
              <a:rPr lang="en-US" dirty="0"/>
              <a:t>Image is in the public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FBA5-F957-4CE9-A734-9CFA9C4F560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09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Need to add in cd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BC8-50B2-A345-901D-1179A6286E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85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BC8-50B2-A345-901D-1179A6286E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68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BC8-50B2-A345-901D-1179A6286E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82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F2EDD3-95E8-884E-B443-2C2E2B020C67}" type="slidenum">
              <a:rPr lang="en-US"/>
              <a:pPr/>
              <a:t>17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2150"/>
            <a:ext cx="6075362" cy="3417888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7" y="4342191"/>
            <a:ext cx="5030391" cy="4115405"/>
          </a:xfrm>
        </p:spPr>
        <p:txBody>
          <a:bodyPr/>
          <a:lstStyle/>
          <a:p>
            <a:r>
              <a:rPr lang="en-US"/>
              <a:t>Speedup is the primary metric for gauging how well an implementation is performing.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A07E-3B64-AB46-F8CF-0744C856EB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82707" y="1480580"/>
            <a:ext cx="4421171" cy="2387600"/>
          </a:xfrm>
          <a:prstGeom prst="rect">
            <a:avLst/>
          </a:prstGeom>
        </p:spPr>
        <p:txBody>
          <a:bodyPr anchor="b"/>
          <a:lstStyle>
            <a:lvl1pPr algn="r">
              <a:defRPr sz="60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28E46-B2D1-5ADE-CF4A-2E82B7B255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82707" y="3960255"/>
            <a:ext cx="4421171" cy="1309327"/>
          </a:xfrm>
        </p:spPr>
        <p:txBody>
          <a:bodyPr/>
          <a:lstStyle>
            <a:lvl1pPr marL="0" indent="0" algn="r">
              <a:buNone/>
              <a:defRPr sz="2400" b="0" i="0">
                <a:latin typeface="Neue Haas Grotesk Text Pro" panose="020B05040202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6" name="Picture 15" descr="A colorful circles and lines&#10;&#10;Description automatically generated">
            <a:extLst>
              <a:ext uri="{FF2B5EF4-FFF2-40B4-BE49-F238E27FC236}">
                <a16:creationId xmlns:a16="http://schemas.microsoft.com/office/drawing/2014/main" id="{F8D683FC-661D-7959-754E-52532AFD8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03" y="-12701"/>
            <a:ext cx="6675603" cy="6145968"/>
          </a:xfrm>
          <a:prstGeom prst="rect">
            <a:avLst/>
          </a:prstGeom>
        </p:spPr>
      </p:pic>
      <p:pic>
        <p:nvPicPr>
          <p:cNvPr id="14" name="Picture 13" descr="A logo with blue letters&#10;&#10;Description automatically generated">
            <a:extLst>
              <a:ext uri="{FF2B5EF4-FFF2-40B4-BE49-F238E27FC236}">
                <a16:creationId xmlns:a16="http://schemas.microsoft.com/office/drawing/2014/main" id="{67838ABF-8AC7-6252-A767-C5338624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994" y="5377420"/>
            <a:ext cx="5251124" cy="1480580"/>
          </a:xfrm>
          <a:prstGeom prst="rect">
            <a:avLst/>
          </a:prstGeom>
        </p:spPr>
      </p:pic>
      <p:pic>
        <p:nvPicPr>
          <p:cNvPr id="18" name="Picture 17" descr="A black and blue rectangle&#10;&#10;Description automatically generated">
            <a:extLst>
              <a:ext uri="{FF2B5EF4-FFF2-40B4-BE49-F238E27FC236}">
                <a16:creationId xmlns:a16="http://schemas.microsoft.com/office/drawing/2014/main" id="{D71F47EA-CE94-0504-84F3-536D0B6DB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757" y="0"/>
            <a:ext cx="217694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9EEE89-D212-2D33-2C8E-CCAB62C71F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950" r="6518"/>
          <a:stretch/>
        </p:blipFill>
        <p:spPr>
          <a:xfrm>
            <a:off x="37331" y="5855818"/>
            <a:ext cx="4705564" cy="55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82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circles and lines&#10;&#10;Description automatically generated">
            <a:extLst>
              <a:ext uri="{FF2B5EF4-FFF2-40B4-BE49-F238E27FC236}">
                <a16:creationId xmlns:a16="http://schemas.microsoft.com/office/drawing/2014/main" id="{8F991851-CA5C-67F1-8A55-0651E47A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858" y="2588654"/>
            <a:ext cx="4811142" cy="42693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EDB8-9241-03E1-5712-8A9CBF09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472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F495B7-99DC-FF6D-3FF0-CCAC8B70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6904808" cy="6906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CD09FD-C9BE-9516-E02D-25299583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1/6/26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05E6CE-42CC-F87C-F69B-F89AE042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917BC3-38B3-131D-3B08-8ACA7929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046B9D-0FC5-3D53-264A-E3D0D8DB9C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94563" y="6123710"/>
            <a:ext cx="671399" cy="64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95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&amp;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D5D383-E6BB-A44A-2CB1-0F3D1A5F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145"/>
            <a:ext cx="6904808" cy="6906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CF0CFB2-ACD1-0E7D-D8EC-BB3E34C8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1/6/26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061CCBB-493F-0360-D432-B7F9787C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8D84CF-1FF1-6A78-D87E-AA831135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3B032109-6A3E-75BB-0F6E-DF83F512745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825625"/>
            <a:ext cx="10515600" cy="360838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42401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circles and lines&#10;&#10;Description automatically generated">
            <a:extLst>
              <a:ext uri="{FF2B5EF4-FFF2-40B4-BE49-F238E27FC236}">
                <a16:creationId xmlns:a16="http://schemas.microsoft.com/office/drawing/2014/main" id="{FC613CB8-8643-2130-F81D-E2976D6F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858" y="2588654"/>
            <a:ext cx="4811142" cy="42693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A0343-B068-85C5-BBB1-63E3AFB64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6396" y="1530657"/>
            <a:ext cx="4599037" cy="4004904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56B41-C81D-CBDA-8CCC-FAE5486F7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428" y="1530657"/>
            <a:ext cx="4599037" cy="4004904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D394AF-EF5A-7767-B728-EC01E94BA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8968" y="279617"/>
            <a:ext cx="5535561" cy="690677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884EB-8B8A-9493-B3D8-03E8B659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6D44-1496-AE2B-FC7B-507D6EE7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BF1CE-5AFF-50A2-464E-AED9EA2F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A84536C8-E4BA-ECB9-14E3-8659CBBB4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79" y="5936552"/>
            <a:ext cx="1287887" cy="90259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726DB0-6BA7-E7CA-6D94-4E25D23BC145}"/>
              </a:ext>
            </a:extLst>
          </p:cNvPr>
          <p:cNvSpPr/>
          <p:nvPr/>
        </p:nvSpPr>
        <p:spPr>
          <a:xfrm>
            <a:off x="-12879" y="-8323"/>
            <a:ext cx="1270000" cy="5924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blue letters&#10;&#10;Description automatically generated">
            <a:extLst>
              <a:ext uri="{FF2B5EF4-FFF2-40B4-BE49-F238E27FC236}">
                <a16:creationId xmlns:a16="http://schemas.microsoft.com/office/drawing/2014/main" id="{BBF6AFBC-4B7F-6FAF-D9EB-4C34E4293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70" y="624"/>
            <a:ext cx="4675630" cy="131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0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C44D-08C8-3744-942C-41F6DB41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95D5A-D6F1-6F0D-638A-9EB9C8B5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E060B-742F-F5E7-F0FA-948F0A37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2A4B7-BF7E-BD9D-D208-DBED489D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297D-BEFD-685A-B4F3-6E11CB2E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9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29FD-6D35-F302-F885-54AF84FED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D3763-3791-18EB-7333-CF216B11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29D3D-8B45-D72A-E7E6-D16170B1E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D3643-BFD5-BB9D-2F93-754C4E09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1320D-E7FF-7A86-4FAA-F1ED3F773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CF09D-E988-159C-F057-A998A19E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8812F-507F-ED96-1837-D114AD98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38B33-1297-B9DC-B357-B618BEEA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6873-C849-B69E-2553-022929B7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E84D7-1EEA-31BD-393D-09BE1EC2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5289A-B5AC-4C32-3466-F99CD8FE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9F073-F52E-41F0-DE14-C1A13A85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0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9565D-0923-B2A9-0142-96E57917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D6979-AA29-2DB9-0EE1-DBE81B52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56FC-463A-0ED6-A57E-21394B4D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0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3BC3-B844-7268-113D-BE623DB2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9A3B-5196-50EC-8BB0-2069FACC3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60BFA-6797-C70E-EE4E-8A8DAB5A0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25921-6F7D-48E3-E8AF-52A04E58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A6703-6C39-C21A-D1C1-F425923B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DA69C-72D1-6521-AC24-B81AFDCC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7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7964-34E5-1D1C-0C59-21EF5306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1265D-A086-591A-B3A4-D033EF840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92421-FBFD-7612-2E0C-2A5E139EC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E8A92-CFD9-FEE1-464A-678AFEF6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D745F-7ABD-7DAB-7510-FB0FCA4D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08DA1-0EB6-791D-EC0C-8E899C67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8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705D-C836-4498-FA61-C164B547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47348-B438-D49E-E324-E31466562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25734-73E8-373C-5F8F-00057628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8BF7F-1A20-F994-38D9-74CA71CF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2703F-844F-1E3D-491D-7340AE89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8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63E9B-3BC1-72B7-99DD-0138E64E7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D4E45-FB60-7970-76D9-6712DCD65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971A7-814D-A8C0-4CA6-356AC28F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3CEC3-BA72-11E9-E243-C7B6D16A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21667-C7D2-BC65-9332-00BF4D9D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18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33248" y="1293094"/>
            <a:ext cx="10918365" cy="483061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/>
            </a:lvl1pPr>
            <a:lvl2pPr marL="539737" indent="-255582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defRPr sz="1800"/>
            </a:lvl2pPr>
            <a:lvl3pPr marL="757220" indent="-1841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 charset="0"/>
              <a:buChar char="•"/>
              <a:defRPr/>
            </a:lvl3pPr>
            <a:lvl4pPr marL="1033246" indent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/>
            </a:lvl4pPr>
            <a:lvl5pPr marL="1261840" indent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85000"/>
              <a:buFontTx/>
              <a:buNone/>
              <a:defRPr sz="1200"/>
            </a:lvl5pPr>
            <a:lvl6pPr>
              <a:buFont typeface="Arial" pitchFamily="34" charset="0"/>
              <a:buChar char="•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0C413-1602-F6A8-F6A5-94441746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563" y="6123710"/>
            <a:ext cx="671399" cy="64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56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3985" y="1289304"/>
            <a:ext cx="5315712" cy="4828032"/>
          </a:xfrm>
          <a:prstGeom prst="rect">
            <a:avLst/>
          </a:prstGeom>
        </p:spPr>
        <p:txBody>
          <a:bodyPr lIns="91275" tIns="45639" rIns="91275" bIns="45639"/>
          <a:lstStyle>
            <a:lvl1pPr marL="237310" indent="-237310">
              <a:lnSpc>
                <a:spcPts val="2200"/>
              </a:lnSpc>
              <a:spcBef>
                <a:spcPts val="1200"/>
              </a:spcBef>
              <a:buSzPct val="100000"/>
              <a:buFont typeface="Arial"/>
              <a:buChar char="•"/>
              <a:defRPr/>
            </a:lvl1pPr>
            <a:lvl2pPr marL="538509" indent="-255563">
              <a:lnSpc>
                <a:spcPts val="1999"/>
              </a:lnSpc>
              <a:spcBef>
                <a:spcPts val="600"/>
              </a:spcBef>
              <a:defRPr/>
            </a:lvl2pPr>
            <a:lvl3pPr marL="757566" indent="-182546">
              <a:lnSpc>
                <a:spcPts val="1800"/>
              </a:lnSpc>
              <a:spcBef>
                <a:spcPts val="600"/>
              </a:spcBef>
              <a:buSzPct val="90000"/>
              <a:buFont typeface="Wingdings" charset="2"/>
              <a:buChar char="§"/>
              <a:defRPr/>
            </a:lvl3pPr>
            <a:lvl4pPr marL="1031381" indent="0">
              <a:lnSpc>
                <a:spcPts val="1600"/>
              </a:lnSpc>
              <a:spcBef>
                <a:spcPts val="600"/>
              </a:spcBef>
              <a:buFontTx/>
              <a:buNone/>
              <a:defRPr/>
            </a:lvl4pPr>
            <a:lvl5pPr marL="1259563" indent="0">
              <a:lnSpc>
                <a:spcPts val="1400"/>
              </a:lnSpc>
              <a:spcBef>
                <a:spcPts val="6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6217920" y="1289304"/>
            <a:ext cx="5315712" cy="4828032"/>
          </a:xfrm>
          <a:prstGeom prst="rect">
            <a:avLst/>
          </a:prstGeom>
        </p:spPr>
        <p:txBody>
          <a:bodyPr lIns="91275" tIns="45639" rIns="91275" bIns="45639"/>
          <a:lstStyle>
            <a:lvl1pPr marL="237310" indent="-237310">
              <a:lnSpc>
                <a:spcPts val="2200"/>
              </a:lnSpc>
              <a:spcBef>
                <a:spcPts val="1200"/>
              </a:spcBef>
              <a:buSzPct val="100000"/>
              <a:buFont typeface="Arial"/>
              <a:buChar char="•"/>
              <a:defRPr/>
            </a:lvl1pPr>
            <a:lvl2pPr marL="538509" indent="-255563">
              <a:lnSpc>
                <a:spcPts val="1999"/>
              </a:lnSpc>
              <a:spcBef>
                <a:spcPts val="600"/>
              </a:spcBef>
              <a:defRPr/>
            </a:lvl2pPr>
            <a:lvl3pPr marL="757566" indent="-182546">
              <a:lnSpc>
                <a:spcPts val="1800"/>
              </a:lnSpc>
              <a:spcBef>
                <a:spcPts val="600"/>
              </a:spcBef>
              <a:buSzPct val="90000"/>
              <a:buFont typeface="Wingdings" charset="2"/>
              <a:buChar char="§"/>
              <a:defRPr/>
            </a:lvl3pPr>
            <a:lvl4pPr marL="1031381" indent="0">
              <a:lnSpc>
                <a:spcPts val="1600"/>
              </a:lnSpc>
              <a:spcBef>
                <a:spcPts val="600"/>
              </a:spcBef>
              <a:buFontTx/>
              <a:buNone/>
              <a:defRPr/>
            </a:lvl4pPr>
            <a:lvl5pPr marL="1259563" indent="0">
              <a:lnSpc>
                <a:spcPts val="1400"/>
              </a:lnSpc>
              <a:spcBef>
                <a:spcPts val="6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2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985" y="1289304"/>
            <a:ext cx="10924032" cy="4828032"/>
          </a:xfrm>
          <a:prstGeom prst="rect">
            <a:avLst/>
          </a:prstGeom>
        </p:spPr>
        <p:txBody>
          <a:bodyPr/>
          <a:lstStyle>
            <a:lvl1pPr marL="237744" indent="-237744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/>
            </a:lvl1pPr>
            <a:lvl2pPr marL="539496" indent="-256032">
              <a:lnSpc>
                <a:spcPct val="90000"/>
              </a:lnSpc>
              <a:spcBef>
                <a:spcPts val="600"/>
              </a:spcBef>
              <a:defRPr/>
            </a:lvl2pPr>
            <a:lvl3pPr marL="758952" indent="-182880">
              <a:lnSpc>
                <a:spcPct val="90000"/>
              </a:lnSpc>
              <a:spcBef>
                <a:spcPts val="600"/>
              </a:spcBef>
              <a:buSzPct val="90000"/>
              <a:buFont typeface="Arial"/>
              <a:buChar char="•"/>
              <a:defRPr/>
            </a:lvl3pPr>
            <a:lvl4pPr marL="1033272" indent="0">
              <a:lnSpc>
                <a:spcPct val="90000"/>
              </a:lnSpc>
              <a:spcBef>
                <a:spcPts val="600"/>
              </a:spcBef>
              <a:buFontTx/>
              <a:buNone/>
              <a:defRPr/>
            </a:lvl4pPr>
            <a:lvl5pPr marL="1261872" indent="0">
              <a:lnSpc>
                <a:spcPct val="90000"/>
              </a:lnSpc>
              <a:spcBef>
                <a:spcPts val="600"/>
              </a:spcBef>
              <a:buSzPct val="85000"/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22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223F-B4E7-C3E1-B874-087A72DE8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098B455-2E3F-C98B-F66E-C0CF3D88C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51728" y="6209027"/>
            <a:ext cx="2129672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fld id="{DEF5953D-26F7-4D49-AD84-4C4224623F74}" type="datetimeFigureOut">
              <a:rPr lang="en-US" smtClean="0"/>
              <a:pPr/>
              <a:t>1/6/26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F645DB8-DA1D-C4FE-5B3E-AA4144DF6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8991" y="6209027"/>
            <a:ext cx="3294017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01876C-9C54-726E-7075-A0E485384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5751" y="6209026"/>
            <a:ext cx="2208049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6C454C1A-ADA3-4595-C6CB-0E29EEA6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908"/>
            <a:ext cx="6904808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C03A7-6611-1CF3-DFDE-9BD8F925B2E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1409125"/>
          </a:xfrm>
          <a:prstGeom prst="rect">
            <a:avLst/>
          </a:prstGeom>
        </p:spPr>
      </p:pic>
      <p:pic>
        <p:nvPicPr>
          <p:cNvPr id="12" name="Picture 11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105F108E-A1A9-ADDE-C220-2115315E63D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2879" y="5936552"/>
            <a:ext cx="1287887" cy="902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BB49B5-54B8-E40B-2EAD-83D9BDC89DE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394563" y="6123710"/>
            <a:ext cx="671399" cy="64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7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D15A-C969-5A43-BD73-663D2444A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3213" y="1481138"/>
            <a:ext cx="4766627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Practical High Performance Computing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821DE-FF74-E14C-8F1A-0D067B3F2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3213" y="3960813"/>
            <a:ext cx="4766627" cy="1308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 Corey, Dr. Chris Hill,</a:t>
            </a:r>
          </a:p>
          <a:p>
            <a:r>
              <a:rPr lang="en-US" dirty="0"/>
              <a:t>Lauren Milechin, Dr. Julie Mullen</a:t>
            </a:r>
          </a:p>
          <a:p>
            <a:r>
              <a:rPr lang="en-US" dirty="0"/>
              <a:t>January 22, 2026</a:t>
            </a:r>
          </a:p>
        </p:txBody>
      </p:sp>
    </p:spTree>
    <p:extLst>
      <p:ext uri="{BB962C8B-B14F-4D97-AF65-F5344CB8AC3E}">
        <p14:creationId xmlns:p14="http://schemas.microsoft.com/office/powerpoint/2010/main" val="338736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18304" y="2554127"/>
          <a:ext cx="821764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1/20/2026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Introduction to Supercomputing Workflows and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Serial Optimization and Parallel Speedup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1/27/2026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Building and Running Parallel Workflows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1/29/2026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Distributed Computing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8702194-D7B4-E14A-843B-E490F3B27282}"/>
              </a:ext>
            </a:extLst>
          </p:cNvPr>
          <p:cNvSpPr txBox="1"/>
          <p:nvPr/>
        </p:nvSpPr>
        <p:spPr>
          <a:xfrm>
            <a:off x="3278809" y="1846241"/>
            <a:ext cx="52966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All class sessions are in 45-804 from 1 - 4pm</a:t>
            </a:r>
          </a:p>
          <a:p>
            <a:pPr algn="ctr"/>
            <a:r>
              <a:rPr lang="en-US" sz="2000" dirty="0"/>
              <a:t>Lunch 12-1pm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6BBB0-6B16-2A72-70F6-8DE06E92B9D9}"/>
              </a:ext>
            </a:extLst>
          </p:cNvPr>
          <p:cNvSpPr/>
          <p:nvPr/>
        </p:nvSpPr>
        <p:spPr>
          <a:xfrm>
            <a:off x="1818304" y="3223260"/>
            <a:ext cx="8217647" cy="5029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02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Schedule</a:t>
            </a:r>
            <a:br>
              <a:rPr lang="en-US" dirty="0"/>
            </a:br>
            <a:r>
              <a:rPr lang="en-US" dirty="0"/>
              <a:t>Thursday January 22,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853080"/>
              </p:ext>
            </p:extLst>
          </p:nvPr>
        </p:nvGraphicFramePr>
        <p:xfrm>
          <a:off x="134471" y="1861820"/>
          <a:ext cx="11923057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0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1:00 – 1:15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Couse Updates and Q &amp; A for Asynchronous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Lauren Milechin, Julie Mullen, Chris Hill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1:15 – 2:00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Workflow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Lauren Milechin, Julie Mullen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2:00 – 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02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2:15 – 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Predicting and Measuring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Sam Corey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48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3:00 – 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In-Class Project Work</a:t>
                      </a:r>
                    </a:p>
                    <a:p>
                      <a:pPr algn="ctr"/>
                      <a:r>
                        <a:rPr lang="en-US" dirty="0"/>
                        <a:t>Q &amp; A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Lauren Milechin, Julie Mullen, Chris Hill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994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95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D15A-C969-5A43-BD73-663D2444A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2707" y="1480580"/>
            <a:ext cx="5578804" cy="2387600"/>
          </a:xfrm>
        </p:spPr>
        <p:txBody>
          <a:bodyPr/>
          <a:lstStyle/>
          <a:p>
            <a:r>
              <a:rPr lang="en-US" dirty="0"/>
              <a:t>Asynchronous 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F5272B-EC6C-2E5A-716C-15494005CC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7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D15A-C969-5A43-BD73-663D2444A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br>
              <a:rPr lang="en-US" dirty="0"/>
            </a:br>
            <a:r>
              <a:rPr lang="en-US" dirty="0"/>
              <a:t>Activity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F5272B-EC6C-2E5A-716C-15494005CC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23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E697-BA58-A994-F3BF-28117B0632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58763"/>
            <a:ext cx="6904038" cy="690562"/>
          </a:xfrm>
        </p:spPr>
        <p:txBody>
          <a:bodyPr/>
          <a:lstStyle/>
          <a:p>
            <a:r>
              <a:rPr lang="en-US"/>
              <a:t>Case Study 1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B9B46-213B-B0B2-59A4-9EB1C0D26A4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676400"/>
            <a:ext cx="3921125" cy="29416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22D913-35C9-3461-A7E7-E342CF9F3305}"/>
              </a:ext>
            </a:extLst>
          </p:cNvPr>
          <p:cNvSpPr txBox="1"/>
          <p:nvPr/>
        </p:nvSpPr>
        <p:spPr>
          <a:xfrm>
            <a:off x="3806190" y="1411657"/>
            <a:ext cx="8656320" cy="532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9" b="1" dirty="0"/>
              <a:t>Problem Statement:</a:t>
            </a:r>
          </a:p>
          <a:p>
            <a:pPr marL="342797" indent="-342797">
              <a:buFont typeface="Arial"/>
              <a:buChar char="•"/>
            </a:pPr>
            <a:r>
              <a:rPr lang="en-US" sz="1999" b="1" dirty="0"/>
              <a:t>Report the 5 words that appear most often in each document</a:t>
            </a:r>
          </a:p>
          <a:p>
            <a:endParaRPr lang="en-US" sz="1999" b="1" dirty="0"/>
          </a:p>
          <a:p>
            <a:r>
              <a:rPr lang="en-US" sz="1999" b="1" dirty="0"/>
              <a:t>Task: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Split the work up among your team to complete the task more 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Each group times itself, stop the timer when the last task is complete</a:t>
            </a:r>
          </a:p>
          <a:p>
            <a:endParaRPr lang="en-US" sz="1999" b="1" dirty="0"/>
          </a:p>
          <a:p>
            <a:r>
              <a:rPr lang="en-US" sz="1999" b="1" dirty="0"/>
              <a:t>Questions to consider: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How do the words in one document affect the words in another document – are they connected?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Where is the independence in this problem?</a:t>
            </a:r>
          </a:p>
          <a:p>
            <a:endParaRPr lang="en-US" sz="1999" b="1" dirty="0"/>
          </a:p>
          <a:p>
            <a:r>
              <a:rPr lang="en-US" sz="1999" b="1" dirty="0"/>
              <a:t>Report 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What workflow did you choose?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What task or data distribution did you decide on and why?</a:t>
            </a:r>
          </a:p>
        </p:txBody>
      </p:sp>
    </p:spTree>
    <p:extLst>
      <p:ext uri="{BB962C8B-B14F-4D97-AF65-F5344CB8AC3E}">
        <p14:creationId xmlns:p14="http://schemas.microsoft.com/office/powerpoint/2010/main" val="227864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E697-BA58-A994-F3BF-28117B06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Study 1: Exemplar</a:t>
            </a:r>
            <a:br>
              <a:rPr lang="en-US" dirty="0"/>
            </a:br>
            <a:r>
              <a:rPr lang="en-US" dirty="0"/>
              <a:t>High Throughput Computing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B9B46-213B-B0B2-59A4-9EB1C0D26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9" y="1676400"/>
            <a:ext cx="3921125" cy="2940844"/>
          </a:xfrm>
        </p:spPr>
      </p:pic>
      <p:sp>
        <p:nvSpPr>
          <p:cNvPr id="3" name="Snip Single Corner Rectangle 2">
            <a:extLst>
              <a:ext uri="{FF2B5EF4-FFF2-40B4-BE49-F238E27FC236}">
                <a16:creationId xmlns:a16="http://schemas.microsoft.com/office/drawing/2014/main" id="{AC20775A-DB7F-426D-8B25-ACC709740A6D}"/>
              </a:ext>
            </a:extLst>
          </p:cNvPr>
          <p:cNvSpPr/>
          <p:nvPr/>
        </p:nvSpPr>
        <p:spPr>
          <a:xfrm>
            <a:off x="3314845" y="1124058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" name="Snip Single Corner Rectangle 3">
            <a:extLst>
              <a:ext uri="{FF2B5EF4-FFF2-40B4-BE49-F238E27FC236}">
                <a16:creationId xmlns:a16="http://schemas.microsoft.com/office/drawing/2014/main" id="{64C9E610-B9AE-6ED0-5323-909C7DB9038E}"/>
              </a:ext>
            </a:extLst>
          </p:cNvPr>
          <p:cNvSpPr/>
          <p:nvPr/>
        </p:nvSpPr>
        <p:spPr>
          <a:xfrm>
            <a:off x="4410722" y="1357491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8" name="Snip Single Corner Rectangle 7">
            <a:extLst>
              <a:ext uri="{FF2B5EF4-FFF2-40B4-BE49-F238E27FC236}">
                <a16:creationId xmlns:a16="http://schemas.microsoft.com/office/drawing/2014/main" id="{3A2B08BA-AB0A-B12C-0301-7F3EA686D729}"/>
              </a:ext>
            </a:extLst>
          </p:cNvPr>
          <p:cNvSpPr/>
          <p:nvPr/>
        </p:nvSpPr>
        <p:spPr>
          <a:xfrm>
            <a:off x="5467781" y="1866992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" name="Snip Single Corner Rectangle 9">
            <a:extLst>
              <a:ext uri="{FF2B5EF4-FFF2-40B4-BE49-F238E27FC236}">
                <a16:creationId xmlns:a16="http://schemas.microsoft.com/office/drawing/2014/main" id="{6EDA9611-388C-E83A-5391-F371A8F74D9C}"/>
              </a:ext>
            </a:extLst>
          </p:cNvPr>
          <p:cNvSpPr/>
          <p:nvPr/>
        </p:nvSpPr>
        <p:spPr>
          <a:xfrm>
            <a:off x="5835501" y="2971800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Snip Single Corner Rectangle 10">
            <a:extLst>
              <a:ext uri="{FF2B5EF4-FFF2-40B4-BE49-F238E27FC236}">
                <a16:creationId xmlns:a16="http://schemas.microsoft.com/office/drawing/2014/main" id="{161074A8-0F9F-CE74-A5CC-E431FD32487F}"/>
              </a:ext>
            </a:extLst>
          </p:cNvPr>
          <p:cNvSpPr/>
          <p:nvPr/>
        </p:nvSpPr>
        <p:spPr>
          <a:xfrm>
            <a:off x="616059" y="5374545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0166560B-80F9-5BA5-2532-23B3860A07A0}"/>
              </a:ext>
            </a:extLst>
          </p:cNvPr>
          <p:cNvSpPr/>
          <p:nvPr/>
        </p:nvSpPr>
        <p:spPr>
          <a:xfrm>
            <a:off x="2930993" y="4987127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Snip Single Corner Rectangle 12">
            <a:extLst>
              <a:ext uri="{FF2B5EF4-FFF2-40B4-BE49-F238E27FC236}">
                <a16:creationId xmlns:a16="http://schemas.microsoft.com/office/drawing/2014/main" id="{66E7F972-FFC5-9C33-69FC-78A896016EA1}"/>
              </a:ext>
            </a:extLst>
          </p:cNvPr>
          <p:cNvSpPr/>
          <p:nvPr/>
        </p:nvSpPr>
        <p:spPr>
          <a:xfrm>
            <a:off x="1735099" y="5169586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E49D2E68-3E27-B2CF-EA20-4BD8DF48E645}"/>
              </a:ext>
            </a:extLst>
          </p:cNvPr>
          <p:cNvSpPr/>
          <p:nvPr/>
        </p:nvSpPr>
        <p:spPr>
          <a:xfrm>
            <a:off x="5181600" y="4057854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5" name="Snip Single Corner Rectangle 14">
            <a:extLst>
              <a:ext uri="{FF2B5EF4-FFF2-40B4-BE49-F238E27FC236}">
                <a16:creationId xmlns:a16="http://schemas.microsoft.com/office/drawing/2014/main" id="{B554390E-49DF-8295-0EB5-334C532619FF}"/>
              </a:ext>
            </a:extLst>
          </p:cNvPr>
          <p:cNvSpPr/>
          <p:nvPr/>
        </p:nvSpPr>
        <p:spPr>
          <a:xfrm>
            <a:off x="4081820" y="4515054"/>
            <a:ext cx="914400" cy="914400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6E1D0F-49C8-6888-8862-7F3787A82B60}"/>
              </a:ext>
            </a:extLst>
          </p:cNvPr>
          <p:cNvSpPr txBox="1"/>
          <p:nvPr/>
        </p:nvSpPr>
        <p:spPr>
          <a:xfrm>
            <a:off x="7091939" y="1900483"/>
            <a:ext cx="4759677" cy="163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9" b="1" dirty="0"/>
              <a:t>Each document can be counted independently</a:t>
            </a:r>
          </a:p>
          <a:p>
            <a:pPr algn="ctr"/>
            <a:endParaRPr lang="en-US" sz="1999" b="1" dirty="0"/>
          </a:p>
          <a:p>
            <a:pPr algn="ctr"/>
            <a:r>
              <a:rPr lang="en-US" sz="1999" b="1" dirty="0"/>
              <a:t>Files can be sent off to processors as if they were all serial jobs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53ABA0-8008-F937-148E-61927303547F}"/>
              </a:ext>
            </a:extLst>
          </p:cNvPr>
          <p:cNvSpPr txBox="1"/>
          <p:nvPr/>
        </p:nvSpPr>
        <p:spPr>
          <a:xfrm>
            <a:off x="7045920" y="1295401"/>
            <a:ext cx="4693914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Independence and Distribution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D1DE84-F5AE-B145-1EB4-6AB460B86F6E}"/>
              </a:ext>
            </a:extLst>
          </p:cNvPr>
          <p:cNvSpPr txBox="1"/>
          <p:nvPr/>
        </p:nvSpPr>
        <p:spPr>
          <a:xfrm>
            <a:off x="7086600" y="3962401"/>
            <a:ext cx="4612555" cy="83099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High Throughput Computing Workflow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EEC27-109B-BCE8-EA50-41A53CA6765A}"/>
              </a:ext>
            </a:extLst>
          </p:cNvPr>
          <p:cNvSpPr txBox="1"/>
          <p:nvPr/>
        </p:nvSpPr>
        <p:spPr>
          <a:xfrm>
            <a:off x="6934136" y="5181600"/>
            <a:ext cx="4917480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9" b="1" dirty="0"/>
              <a:t>Many serial jobs (independent) that you can send off aka “fire and forget”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0A79A2-370E-D084-3375-43A5F2489A8C}"/>
              </a:ext>
            </a:extLst>
          </p:cNvPr>
          <p:cNvCxnSpPr>
            <a:cxnSpLocks/>
          </p:cNvCxnSpPr>
          <p:nvPr/>
        </p:nvCxnSpPr>
        <p:spPr>
          <a:xfrm flipV="1">
            <a:off x="3260023" y="1697945"/>
            <a:ext cx="512023" cy="124870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362F06-A6A5-43CB-0324-75FF9C62A201}"/>
              </a:ext>
            </a:extLst>
          </p:cNvPr>
          <p:cNvCxnSpPr>
            <a:cxnSpLocks/>
          </p:cNvCxnSpPr>
          <p:nvPr/>
        </p:nvCxnSpPr>
        <p:spPr>
          <a:xfrm flipV="1">
            <a:off x="3200003" y="1886918"/>
            <a:ext cx="1635230" cy="118002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3C872E-0C2F-12A4-0CB6-250C68781B43}"/>
              </a:ext>
            </a:extLst>
          </p:cNvPr>
          <p:cNvCxnSpPr>
            <a:cxnSpLocks/>
          </p:cNvCxnSpPr>
          <p:nvPr/>
        </p:nvCxnSpPr>
        <p:spPr>
          <a:xfrm flipV="1">
            <a:off x="3186213" y="2477360"/>
            <a:ext cx="2738768" cy="6660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F9BFF0-B9A2-243B-D9F3-95885C23080C}"/>
              </a:ext>
            </a:extLst>
          </p:cNvPr>
          <p:cNvCxnSpPr>
            <a:cxnSpLocks/>
          </p:cNvCxnSpPr>
          <p:nvPr/>
        </p:nvCxnSpPr>
        <p:spPr>
          <a:xfrm>
            <a:off x="3260022" y="3182259"/>
            <a:ext cx="2835978" cy="40009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CB7B99-7CBD-9030-25FE-36B1DD8B24C7}"/>
              </a:ext>
            </a:extLst>
          </p:cNvPr>
          <p:cNvCxnSpPr>
            <a:cxnSpLocks/>
          </p:cNvCxnSpPr>
          <p:nvPr/>
        </p:nvCxnSpPr>
        <p:spPr>
          <a:xfrm>
            <a:off x="3260022" y="3238597"/>
            <a:ext cx="2291514" cy="13590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48670C-BFC0-B796-F6E4-0EDE7F4AEC50}"/>
              </a:ext>
            </a:extLst>
          </p:cNvPr>
          <p:cNvCxnSpPr>
            <a:cxnSpLocks/>
          </p:cNvCxnSpPr>
          <p:nvPr/>
        </p:nvCxnSpPr>
        <p:spPr>
          <a:xfrm>
            <a:off x="3186214" y="3210428"/>
            <a:ext cx="1352807" cy="17049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224C415-B813-4A69-019F-8CF3F46CC533}"/>
              </a:ext>
            </a:extLst>
          </p:cNvPr>
          <p:cNvCxnSpPr>
            <a:cxnSpLocks/>
          </p:cNvCxnSpPr>
          <p:nvPr/>
        </p:nvCxnSpPr>
        <p:spPr>
          <a:xfrm>
            <a:off x="3204708" y="3219039"/>
            <a:ext cx="200894" cy="218664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11C23A2-3D39-B02A-E2FE-D3032D3CB315}"/>
              </a:ext>
            </a:extLst>
          </p:cNvPr>
          <p:cNvCxnSpPr>
            <a:cxnSpLocks/>
          </p:cNvCxnSpPr>
          <p:nvPr/>
        </p:nvCxnSpPr>
        <p:spPr>
          <a:xfrm flipH="1">
            <a:off x="2192300" y="3210428"/>
            <a:ext cx="944509" cy="231416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B023D44-3790-F8F1-A785-C4828AC2D9AA}"/>
              </a:ext>
            </a:extLst>
          </p:cNvPr>
          <p:cNvCxnSpPr>
            <a:cxnSpLocks/>
          </p:cNvCxnSpPr>
          <p:nvPr/>
        </p:nvCxnSpPr>
        <p:spPr>
          <a:xfrm flipH="1">
            <a:off x="1092519" y="3182260"/>
            <a:ext cx="2085824" cy="2677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3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E697-BA58-A994-F3BF-28117B06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B9B46-213B-B0B2-59A4-9EB1C0D26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9" y="1676400"/>
            <a:ext cx="3921125" cy="29408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22D913-35C9-3461-A7E7-E342CF9F3305}"/>
              </a:ext>
            </a:extLst>
          </p:cNvPr>
          <p:cNvSpPr txBox="1"/>
          <p:nvPr/>
        </p:nvSpPr>
        <p:spPr>
          <a:xfrm>
            <a:off x="3389276" y="1520779"/>
            <a:ext cx="87074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Statement:</a:t>
            </a:r>
          </a:p>
          <a:p>
            <a:pPr marL="342797" indent="-342797">
              <a:buFont typeface="Arial"/>
              <a:buChar char="•"/>
            </a:pPr>
            <a:r>
              <a:rPr lang="en-US" b="1" dirty="0"/>
              <a:t>Report the 5 words that appear most often </a:t>
            </a:r>
            <a:r>
              <a:rPr lang="en-US" b="1" i="1" dirty="0">
                <a:solidFill>
                  <a:srgbClr val="12A89F"/>
                </a:solidFill>
              </a:rPr>
              <a:t>across all of the documents</a:t>
            </a:r>
          </a:p>
          <a:p>
            <a:endParaRPr lang="en-US" b="1" dirty="0"/>
          </a:p>
          <a:p>
            <a:r>
              <a:rPr lang="en-US" b="1" dirty="0"/>
              <a:t>Task: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Split the work up among your team to complete the task more 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Each group times itself, stop the timer when the last task is complete</a:t>
            </a:r>
          </a:p>
          <a:p>
            <a:endParaRPr lang="en-US" b="1" dirty="0"/>
          </a:p>
          <a:p>
            <a:r>
              <a:rPr lang="en-US" b="1" dirty="0"/>
              <a:t>Questions to consider: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How do the words in one document affect the words in another document – are they connected?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Where is the independence in this problem?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2A89F"/>
                </a:solidFill>
              </a:rPr>
              <a:t>Are there separate stages of work?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2A89F"/>
                </a:solidFill>
              </a:rPr>
              <a:t>Are all the processors working during all stages of work?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Report 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What workflow are you using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What task or data distribution did you decide on and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2A89F"/>
                </a:solidFill>
              </a:rPr>
              <a:t>Do the stages have an impact on the work distribution?</a:t>
            </a:r>
          </a:p>
        </p:txBody>
      </p:sp>
    </p:spTree>
    <p:extLst>
      <p:ext uri="{BB962C8B-B14F-4D97-AF65-F5344CB8AC3E}">
        <p14:creationId xmlns:p14="http://schemas.microsoft.com/office/powerpoint/2010/main" val="299499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BBE9730-3057-3BEB-8E7C-A0FD2AF57B00}"/>
              </a:ext>
            </a:extLst>
          </p:cNvPr>
          <p:cNvSpPr txBox="1"/>
          <p:nvPr/>
        </p:nvSpPr>
        <p:spPr>
          <a:xfrm>
            <a:off x="7091939" y="1900483"/>
            <a:ext cx="4759677" cy="193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9" b="1" dirty="0"/>
              <a:t>Each document can be counted independently</a:t>
            </a:r>
          </a:p>
          <a:p>
            <a:pPr algn="ctr"/>
            <a:endParaRPr lang="en-US" sz="1999" b="1" dirty="0"/>
          </a:p>
          <a:p>
            <a:pPr algn="ctr"/>
            <a:r>
              <a:rPr lang="en-US" sz="1999" b="1" dirty="0"/>
              <a:t>Results need to be combined in order to determine most common words across all the documents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68430D-0251-8FA3-5635-D88F204AE226}"/>
              </a:ext>
            </a:extLst>
          </p:cNvPr>
          <p:cNvSpPr txBox="1"/>
          <p:nvPr/>
        </p:nvSpPr>
        <p:spPr>
          <a:xfrm>
            <a:off x="7045920" y="1295401"/>
            <a:ext cx="4693914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Independence and Distribution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E21F95-C045-BDAF-DC8C-8446F6488BE9}"/>
              </a:ext>
            </a:extLst>
          </p:cNvPr>
          <p:cNvSpPr txBox="1"/>
          <p:nvPr/>
        </p:nvSpPr>
        <p:spPr>
          <a:xfrm>
            <a:off x="7086600" y="4038601"/>
            <a:ext cx="4612555" cy="83099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Loosely Coupled Computing Workflow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BAB0944-57F6-C78B-5A21-254C4A5387B6}"/>
              </a:ext>
            </a:extLst>
          </p:cNvPr>
          <p:cNvGrpSpPr/>
          <p:nvPr/>
        </p:nvGrpSpPr>
        <p:grpSpPr>
          <a:xfrm>
            <a:off x="619964" y="1295401"/>
            <a:ext cx="4759676" cy="4717317"/>
            <a:chOff x="618376" y="1752600"/>
            <a:chExt cx="4113212" cy="426011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E22D79B-41CC-6858-9E44-66A9E70C43BD}"/>
                </a:ext>
              </a:extLst>
            </p:cNvPr>
            <p:cNvGrpSpPr/>
            <p:nvPr/>
          </p:nvGrpSpPr>
          <p:grpSpPr>
            <a:xfrm>
              <a:off x="618376" y="1752600"/>
              <a:ext cx="4113212" cy="2707545"/>
              <a:chOff x="0" y="1124058"/>
              <a:chExt cx="6748313" cy="5164887"/>
            </a:xfrm>
          </p:grpSpPr>
          <p:pic>
            <p:nvPicPr>
              <p:cNvPr id="4" name="Content Placeholder 4">
                <a:extLst>
                  <a:ext uri="{FF2B5EF4-FFF2-40B4-BE49-F238E27FC236}">
                    <a16:creationId xmlns:a16="http://schemas.microsoft.com/office/drawing/2014/main" id="{8836AE4D-3283-27CB-A8AE-DBB3F6361E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0" y="1676400"/>
                <a:ext cx="3921125" cy="2940844"/>
              </a:xfrm>
              <a:prstGeom prst="rect">
                <a:avLst/>
              </a:prstGeom>
            </p:spPr>
          </p:pic>
          <p:sp>
            <p:nvSpPr>
              <p:cNvPr id="5" name="Snip Single Corner Rectangle 4">
                <a:extLst>
                  <a:ext uri="{FF2B5EF4-FFF2-40B4-BE49-F238E27FC236}">
                    <a16:creationId xmlns:a16="http://schemas.microsoft.com/office/drawing/2014/main" id="{26CD025D-B826-C493-B23C-A7FAEBD46043}"/>
                  </a:ext>
                </a:extLst>
              </p:cNvPr>
              <p:cNvSpPr/>
              <p:nvPr/>
            </p:nvSpPr>
            <p:spPr>
              <a:xfrm>
                <a:off x="3313257" y="1124058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Snip Single Corner Rectangle 5">
                <a:extLst>
                  <a:ext uri="{FF2B5EF4-FFF2-40B4-BE49-F238E27FC236}">
                    <a16:creationId xmlns:a16="http://schemas.microsoft.com/office/drawing/2014/main" id="{815DFC4B-73DE-0DC9-95B9-3817017CBD8B}"/>
                  </a:ext>
                </a:extLst>
              </p:cNvPr>
              <p:cNvSpPr/>
              <p:nvPr/>
            </p:nvSpPr>
            <p:spPr>
              <a:xfrm>
                <a:off x="4409134" y="1357491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Snip Single Corner Rectangle 6">
                <a:extLst>
                  <a:ext uri="{FF2B5EF4-FFF2-40B4-BE49-F238E27FC236}">
                    <a16:creationId xmlns:a16="http://schemas.microsoft.com/office/drawing/2014/main" id="{9BA69226-20FD-4A60-E5C8-1286C7A91197}"/>
                  </a:ext>
                </a:extLst>
              </p:cNvPr>
              <p:cNvSpPr/>
              <p:nvPr/>
            </p:nvSpPr>
            <p:spPr>
              <a:xfrm>
                <a:off x="5466193" y="1866992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Snip Single Corner Rectangle 7">
                <a:extLst>
                  <a:ext uri="{FF2B5EF4-FFF2-40B4-BE49-F238E27FC236}">
                    <a16:creationId xmlns:a16="http://schemas.microsoft.com/office/drawing/2014/main" id="{1AA229B7-57D5-01B5-D9A9-778CA70352F4}"/>
                  </a:ext>
                </a:extLst>
              </p:cNvPr>
              <p:cNvSpPr/>
              <p:nvPr/>
            </p:nvSpPr>
            <p:spPr>
              <a:xfrm>
                <a:off x="5833913" y="2971800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Snip Single Corner Rectangle 8">
                <a:extLst>
                  <a:ext uri="{FF2B5EF4-FFF2-40B4-BE49-F238E27FC236}">
                    <a16:creationId xmlns:a16="http://schemas.microsoft.com/office/drawing/2014/main" id="{C82621A3-1659-334C-9CCD-B80B08E3E597}"/>
                  </a:ext>
                </a:extLst>
              </p:cNvPr>
              <p:cNvSpPr/>
              <p:nvPr/>
            </p:nvSpPr>
            <p:spPr>
              <a:xfrm>
                <a:off x="614471" y="5374545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Snip Single Corner Rectangle 9">
                <a:extLst>
                  <a:ext uri="{FF2B5EF4-FFF2-40B4-BE49-F238E27FC236}">
                    <a16:creationId xmlns:a16="http://schemas.microsoft.com/office/drawing/2014/main" id="{806D79B3-256A-E908-A5DF-29FF25162013}"/>
                  </a:ext>
                </a:extLst>
              </p:cNvPr>
              <p:cNvSpPr/>
              <p:nvPr/>
            </p:nvSpPr>
            <p:spPr>
              <a:xfrm>
                <a:off x="2929405" y="4987127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Snip Single Corner Rectangle 10">
                <a:extLst>
                  <a:ext uri="{FF2B5EF4-FFF2-40B4-BE49-F238E27FC236}">
                    <a16:creationId xmlns:a16="http://schemas.microsoft.com/office/drawing/2014/main" id="{07FD3E63-3312-BC6C-5E0B-10C13A562292}"/>
                  </a:ext>
                </a:extLst>
              </p:cNvPr>
              <p:cNvSpPr/>
              <p:nvPr/>
            </p:nvSpPr>
            <p:spPr>
              <a:xfrm>
                <a:off x="1733511" y="5169586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Snip Single Corner Rectangle 11">
                <a:extLst>
                  <a:ext uri="{FF2B5EF4-FFF2-40B4-BE49-F238E27FC236}">
                    <a16:creationId xmlns:a16="http://schemas.microsoft.com/office/drawing/2014/main" id="{21CD1E17-BCBD-6189-06D3-07B1015B8378}"/>
                  </a:ext>
                </a:extLst>
              </p:cNvPr>
              <p:cNvSpPr/>
              <p:nvPr/>
            </p:nvSpPr>
            <p:spPr>
              <a:xfrm>
                <a:off x="5180012" y="4057854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Snip Single Corner Rectangle 12">
                <a:extLst>
                  <a:ext uri="{FF2B5EF4-FFF2-40B4-BE49-F238E27FC236}">
                    <a16:creationId xmlns:a16="http://schemas.microsoft.com/office/drawing/2014/main" id="{AFDFDEF5-492B-8EBB-7CDB-87984A81D077}"/>
                  </a:ext>
                </a:extLst>
              </p:cNvPr>
              <p:cNvSpPr/>
              <p:nvPr/>
            </p:nvSpPr>
            <p:spPr>
              <a:xfrm>
                <a:off x="4080232" y="4515054"/>
                <a:ext cx="914400" cy="914400"/>
              </a:xfrm>
              <a:prstGeom prst="snip1Rect">
                <a:avLst/>
              </a:prstGeom>
              <a:solidFill>
                <a:schemeClr val="accent5">
                  <a:lumMod val="75000"/>
                </a:schemeClr>
              </a:solidFill>
              <a:ln w="222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DD6F0C-226D-F7D9-6F87-414AFDD455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8434" y="1697945"/>
                <a:ext cx="512023" cy="124870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8F047A4-A871-4CB5-C136-3E783BC3D9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8415" y="1886917"/>
                <a:ext cx="1635230" cy="118002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DC8DB6B-1172-F057-1B4E-1DCBA4EF13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4625" y="2477359"/>
                <a:ext cx="2738768" cy="666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3170778-CDA6-F2CF-EC36-B3292DABF0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8434" y="3182259"/>
                <a:ext cx="2835978" cy="4000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C419E671-25C5-DFF4-8A7C-CBB465473E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8434" y="3238596"/>
                <a:ext cx="2291514" cy="1359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349B7BA-918A-5984-DB6E-169505E65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4625" y="3210427"/>
                <a:ext cx="1352807" cy="1704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2DD990F-7C96-3420-605D-CF29DF8F7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3120" y="3219039"/>
                <a:ext cx="200894" cy="21866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9376A46-AE2D-BC97-3437-E84754C80F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0711" y="3210427"/>
                <a:ext cx="944509" cy="231416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4D2339E-F8F0-FB04-AEBE-63E0AC9FB6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0931" y="3182259"/>
                <a:ext cx="2085824" cy="267782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Snip Single Corner Rectangle 27">
              <a:extLst>
                <a:ext uri="{FF2B5EF4-FFF2-40B4-BE49-F238E27FC236}">
                  <a16:creationId xmlns:a16="http://schemas.microsoft.com/office/drawing/2014/main" id="{9D81E4B5-DFE3-77F6-6964-058F5E3E1EF0}"/>
                </a:ext>
              </a:extLst>
            </p:cNvPr>
            <p:cNvSpPr/>
            <p:nvPr/>
          </p:nvSpPr>
          <p:spPr>
            <a:xfrm>
              <a:off x="1953652" y="5098317"/>
              <a:ext cx="1683872" cy="914400"/>
            </a:xfrm>
            <a:prstGeom prst="snip1Rect">
              <a:avLst/>
            </a:prstGeom>
            <a:solidFill>
              <a:schemeClr val="accent2">
                <a:alpha val="53000"/>
              </a:schemeClr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75A7862-FE2C-A3EE-B7ED-D8A177C7D8E5}"/>
                </a:ext>
              </a:extLst>
            </p:cNvPr>
            <p:cNvCxnSpPr/>
            <p:nvPr/>
          </p:nvCxnSpPr>
          <p:spPr>
            <a:xfrm>
              <a:off x="2916534" y="2112400"/>
              <a:ext cx="55204" cy="3014844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5DDCA79-E413-0099-981A-8514816491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3425" y="2083473"/>
              <a:ext cx="520941" cy="3043771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77904A1-D465-DCF4-4E14-7677BDDAF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7377" y="2453685"/>
              <a:ext cx="1220582" cy="2673559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E4E79F2-E474-8BEA-92DD-2E35C51C7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9642" y="3041290"/>
              <a:ext cx="1363167" cy="1971896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ED77839-35CD-2631-D184-23F7CA96C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7377" y="3462675"/>
              <a:ext cx="1231425" cy="1635642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DACB0CD-E793-11D7-6BE3-3CE5AF1D8E2B}"/>
                </a:ext>
              </a:extLst>
            </p:cNvPr>
            <p:cNvCxnSpPr>
              <a:cxnSpLocks/>
            </p:cNvCxnSpPr>
            <p:nvPr/>
          </p:nvCxnSpPr>
          <p:spPr>
            <a:xfrm>
              <a:off x="1470111" y="4219294"/>
              <a:ext cx="1462713" cy="894056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B774031-E1C4-1306-DC08-8FD90D05CBF2}"/>
                </a:ext>
              </a:extLst>
            </p:cNvPr>
            <p:cNvCxnSpPr>
              <a:cxnSpLocks/>
            </p:cNvCxnSpPr>
            <p:nvPr/>
          </p:nvCxnSpPr>
          <p:spPr>
            <a:xfrm>
              <a:off x="2029134" y="4182189"/>
              <a:ext cx="883040" cy="860911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38DCFB3-56F9-FEF7-4038-9C908FEE6D25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2908581" y="3769907"/>
              <a:ext cx="1145772" cy="1372103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A3DA248-1759-3F9E-7948-F4B59E375FFE}"/>
                </a:ext>
              </a:extLst>
            </p:cNvPr>
            <p:cNvCxnSpPr>
              <a:cxnSpLocks/>
            </p:cNvCxnSpPr>
            <p:nvPr/>
          </p:nvCxnSpPr>
          <p:spPr>
            <a:xfrm>
              <a:off x="2643873" y="4036453"/>
              <a:ext cx="220487" cy="1090791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F26B09C-75CD-A486-7FE9-115364C8F9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8461" y="3715527"/>
              <a:ext cx="351640" cy="138279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4434F6-101A-E1C3-5241-58B89FAEA50B}"/>
                </a:ext>
              </a:extLst>
            </p:cNvPr>
            <p:cNvSpPr txBox="1"/>
            <p:nvPr/>
          </p:nvSpPr>
          <p:spPr>
            <a:xfrm>
              <a:off x="2454698" y="5238633"/>
              <a:ext cx="681780" cy="667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Word 1</a:t>
              </a:r>
            </a:p>
            <a:p>
              <a:pPr algn="ctr"/>
              <a:r>
                <a:rPr lang="en-US" sz="1400" b="1" dirty="0"/>
                <a:t>Word 2</a:t>
              </a:r>
            </a:p>
            <a:p>
              <a:pPr algn="ctr"/>
              <a:r>
                <a:rPr lang="en-US" sz="1400" b="1" dirty="0"/>
                <a:t>Word 3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E441B25-47B2-7281-1BA3-2CD2D1070193}"/>
              </a:ext>
            </a:extLst>
          </p:cNvPr>
          <p:cNvSpPr txBox="1"/>
          <p:nvPr/>
        </p:nvSpPr>
        <p:spPr>
          <a:xfrm>
            <a:off x="6781800" y="5016829"/>
            <a:ext cx="5222153" cy="1322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9" b="1" dirty="0"/>
              <a:t>The first stage is High Throughput (independent) but the results need to be gathered in order to compute the required result</a:t>
            </a: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C3E3EA5B-A2DB-A917-B3E8-E576F934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Study 2: Loosely Coupled Computing</a:t>
            </a:r>
          </a:p>
        </p:txBody>
      </p:sp>
    </p:spTree>
    <p:extLst>
      <p:ext uri="{BB962C8B-B14F-4D97-AF65-F5344CB8AC3E}">
        <p14:creationId xmlns:p14="http://schemas.microsoft.com/office/powerpoint/2010/main" val="1443748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E697-BA58-A994-F3BF-28117B06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B9B46-213B-B0B2-59A4-9EB1C0D26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9" y="1676400"/>
            <a:ext cx="3921125" cy="29408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22D913-35C9-3461-A7E7-E342CF9F3305}"/>
              </a:ext>
            </a:extLst>
          </p:cNvPr>
          <p:cNvSpPr txBox="1"/>
          <p:nvPr/>
        </p:nvSpPr>
        <p:spPr>
          <a:xfrm>
            <a:off x="3502617" y="1276738"/>
            <a:ext cx="868779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Statement:</a:t>
            </a:r>
          </a:p>
          <a:p>
            <a:pPr marL="342797" indent="-342797">
              <a:buFont typeface="Arial"/>
              <a:buChar char="•"/>
            </a:pPr>
            <a:r>
              <a:rPr lang="en-US" b="1" dirty="0"/>
              <a:t>Report the 5 words that appear most often across all of the documents and </a:t>
            </a:r>
            <a:r>
              <a:rPr lang="en-US" b="1" i="1" dirty="0">
                <a:solidFill>
                  <a:srgbClr val="12A89F"/>
                </a:solidFill>
              </a:rPr>
              <a:t>send the 5 words back to each processor</a:t>
            </a:r>
          </a:p>
          <a:p>
            <a:endParaRPr lang="en-US" b="1" dirty="0"/>
          </a:p>
          <a:p>
            <a:r>
              <a:rPr lang="en-US" b="1" dirty="0"/>
              <a:t>Task: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Split the work up among your team to complete the task more 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Each group times itself, stop the timer when the last task is complete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Questions to consider: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How do the words in one document affect the words in another document – are they connected?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Where is the independence in this problem?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2A89F"/>
                </a:solidFill>
              </a:rPr>
              <a:t>Are there separate stages of work?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2A89F"/>
                </a:solidFill>
              </a:rPr>
              <a:t>Are all the processors working during all stages of work?</a:t>
            </a:r>
          </a:p>
          <a:p>
            <a:endParaRPr lang="en-US" b="1" dirty="0"/>
          </a:p>
          <a:p>
            <a:r>
              <a:rPr lang="en-US" b="1" dirty="0"/>
              <a:t>Report 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Do you have to change your workflow from Case Study 2?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What task or data distribution did you decide on and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2A89F"/>
                </a:solidFill>
              </a:rPr>
              <a:t>Do the stages have an impact on the work distribution?</a:t>
            </a:r>
          </a:p>
        </p:txBody>
      </p:sp>
    </p:spTree>
    <p:extLst>
      <p:ext uri="{BB962C8B-B14F-4D97-AF65-F5344CB8AC3E}">
        <p14:creationId xmlns:p14="http://schemas.microsoft.com/office/powerpoint/2010/main" val="200223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BBE9730-3057-3BEB-8E7C-A0FD2AF57B00}"/>
              </a:ext>
            </a:extLst>
          </p:cNvPr>
          <p:cNvSpPr txBox="1"/>
          <p:nvPr/>
        </p:nvSpPr>
        <p:spPr>
          <a:xfrm>
            <a:off x="375976" y="4511946"/>
            <a:ext cx="5637212" cy="163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Stage 1: Each document counted independently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Stage 2: Results gathered, top counts computed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Stage 3: counts sent back to all workers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68430D-0251-8FA3-5635-D88F204AE226}"/>
              </a:ext>
            </a:extLst>
          </p:cNvPr>
          <p:cNvSpPr txBox="1"/>
          <p:nvPr/>
        </p:nvSpPr>
        <p:spPr>
          <a:xfrm>
            <a:off x="841868" y="3881736"/>
            <a:ext cx="4693914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Independence and Distribution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E21F95-C045-BDAF-DC8C-8446F6488BE9}"/>
              </a:ext>
            </a:extLst>
          </p:cNvPr>
          <p:cNvSpPr txBox="1"/>
          <p:nvPr/>
        </p:nvSpPr>
        <p:spPr>
          <a:xfrm>
            <a:off x="7086598" y="3881736"/>
            <a:ext cx="4612555" cy="46166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Parallel Computing Workflow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41B25-47B2-7281-1BA3-2CD2D1070193}"/>
              </a:ext>
            </a:extLst>
          </p:cNvPr>
          <p:cNvSpPr txBox="1"/>
          <p:nvPr/>
        </p:nvSpPr>
        <p:spPr>
          <a:xfrm>
            <a:off x="6551613" y="4465426"/>
            <a:ext cx="5637212" cy="163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Multiple stages where data moves between tasks (communication)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Often called “Fork-Join”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Stage 2 is a Gather or Reduce operation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99" b="1" dirty="0"/>
              <a:t>Stage 3: is a Broadcast Operation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51AE97C-C667-6530-AC70-F5F7DD1F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3: Parallel Computing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0539B20-6995-FCE8-D79D-1BB5A4C354B3}"/>
              </a:ext>
            </a:extLst>
          </p:cNvPr>
          <p:cNvGrpSpPr/>
          <p:nvPr/>
        </p:nvGrpSpPr>
        <p:grpSpPr>
          <a:xfrm>
            <a:off x="1770466" y="1295401"/>
            <a:ext cx="8394290" cy="2178045"/>
            <a:chOff x="1768878" y="1295400"/>
            <a:chExt cx="8394290" cy="2178045"/>
          </a:xfrm>
        </p:grpSpPr>
        <p:pic>
          <p:nvPicPr>
            <p:cNvPr id="4" name="Content Placeholder 4">
              <a:extLst>
                <a:ext uri="{FF2B5EF4-FFF2-40B4-BE49-F238E27FC236}">
                  <a16:creationId xmlns:a16="http://schemas.microsoft.com/office/drawing/2014/main" id="{8836AE4D-3283-27CB-A8AE-DBB3F6361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68878" y="1629486"/>
              <a:ext cx="2155803" cy="1330689"/>
            </a:xfrm>
            <a:prstGeom prst="rect">
              <a:avLst/>
            </a:prstGeom>
          </p:spPr>
        </p:pic>
        <p:sp>
          <p:nvSpPr>
            <p:cNvPr id="5" name="Snip Single Corner Rectangle 4">
              <a:extLst>
                <a:ext uri="{FF2B5EF4-FFF2-40B4-BE49-F238E27FC236}">
                  <a16:creationId xmlns:a16="http://schemas.microsoft.com/office/drawing/2014/main" id="{26CD025D-B826-C493-B23C-A7FAEBD46043}"/>
                </a:ext>
              </a:extLst>
            </p:cNvPr>
            <p:cNvSpPr/>
            <p:nvPr/>
          </p:nvSpPr>
          <p:spPr>
            <a:xfrm>
              <a:off x="4875860" y="1295400"/>
              <a:ext cx="644939" cy="530792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Snip Single Corner Rectangle 5">
              <a:extLst>
                <a:ext uri="{FF2B5EF4-FFF2-40B4-BE49-F238E27FC236}">
                  <a16:creationId xmlns:a16="http://schemas.microsoft.com/office/drawing/2014/main" id="{815DFC4B-73DE-0DC9-95B9-3817017CBD8B}"/>
                </a:ext>
              </a:extLst>
            </p:cNvPr>
            <p:cNvSpPr/>
            <p:nvPr/>
          </p:nvSpPr>
          <p:spPr>
            <a:xfrm>
              <a:off x="4871168" y="1964388"/>
              <a:ext cx="644939" cy="530792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Snip Single Corner Rectangle 6">
              <a:extLst>
                <a:ext uri="{FF2B5EF4-FFF2-40B4-BE49-F238E27FC236}">
                  <a16:creationId xmlns:a16="http://schemas.microsoft.com/office/drawing/2014/main" id="{9BA69226-20FD-4A60-E5C8-1286C7A91197}"/>
                </a:ext>
              </a:extLst>
            </p:cNvPr>
            <p:cNvSpPr/>
            <p:nvPr/>
          </p:nvSpPr>
          <p:spPr>
            <a:xfrm>
              <a:off x="4871167" y="2633376"/>
              <a:ext cx="644939" cy="530792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3DC34CF-CE2E-4AE5-98F5-9B1A29DD365A}"/>
                </a:ext>
              </a:extLst>
            </p:cNvPr>
            <p:cNvGrpSpPr/>
            <p:nvPr/>
          </p:nvGrpSpPr>
          <p:grpSpPr>
            <a:xfrm>
              <a:off x="6483008" y="1676400"/>
              <a:ext cx="1600200" cy="1003890"/>
              <a:chOff x="2211364" y="4960813"/>
              <a:chExt cx="1948522" cy="1012534"/>
            </a:xfrm>
          </p:grpSpPr>
          <p:sp>
            <p:nvSpPr>
              <p:cNvPr id="28" name="Snip Single Corner Rectangle 27">
                <a:extLst>
                  <a:ext uri="{FF2B5EF4-FFF2-40B4-BE49-F238E27FC236}">
                    <a16:creationId xmlns:a16="http://schemas.microsoft.com/office/drawing/2014/main" id="{9D81E4B5-DFE3-77F6-6964-058F5E3E1EF0}"/>
                  </a:ext>
                </a:extLst>
              </p:cNvPr>
              <p:cNvSpPr/>
              <p:nvPr/>
            </p:nvSpPr>
            <p:spPr>
              <a:xfrm>
                <a:off x="2211364" y="4960813"/>
                <a:ext cx="1948522" cy="1012534"/>
              </a:xfrm>
              <a:prstGeom prst="snip1Rect">
                <a:avLst/>
              </a:prstGeom>
              <a:solidFill>
                <a:schemeClr val="accent2">
                  <a:alpha val="53000"/>
                </a:schemeClr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34434F6-101A-E1C3-5241-58B89FAEA50B}"/>
                  </a:ext>
                </a:extLst>
              </p:cNvPr>
              <p:cNvSpPr txBox="1"/>
              <p:nvPr/>
            </p:nvSpPr>
            <p:spPr>
              <a:xfrm>
                <a:off x="2657443" y="5105400"/>
                <a:ext cx="960666" cy="745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Word 1</a:t>
                </a:r>
              </a:p>
              <a:p>
                <a:pPr algn="ctr"/>
                <a:r>
                  <a:rPr lang="en-US" sz="1400" b="1" dirty="0"/>
                  <a:t>Word 2</a:t>
                </a:r>
              </a:p>
              <a:p>
                <a:pPr algn="ctr"/>
                <a:r>
                  <a:rPr lang="en-US" sz="1400" b="1" dirty="0"/>
                  <a:t>Word 3</a:t>
                </a:r>
              </a:p>
            </p:txBody>
          </p:sp>
        </p:grpSp>
        <p:sp>
          <p:nvSpPr>
            <p:cNvPr id="32" name="Snip Single Corner Rectangle 31">
              <a:extLst>
                <a:ext uri="{FF2B5EF4-FFF2-40B4-BE49-F238E27FC236}">
                  <a16:creationId xmlns:a16="http://schemas.microsoft.com/office/drawing/2014/main" id="{103CDB27-EB2A-D2CC-3378-ADF090FF7C54}"/>
                </a:ext>
              </a:extLst>
            </p:cNvPr>
            <p:cNvSpPr/>
            <p:nvPr/>
          </p:nvSpPr>
          <p:spPr>
            <a:xfrm>
              <a:off x="9509492" y="1295400"/>
              <a:ext cx="644939" cy="530792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Snip Single Corner Rectangle 33">
              <a:extLst>
                <a:ext uri="{FF2B5EF4-FFF2-40B4-BE49-F238E27FC236}">
                  <a16:creationId xmlns:a16="http://schemas.microsoft.com/office/drawing/2014/main" id="{99C46340-9E3A-EEA5-5EB0-0C67CC8FAA48}"/>
                </a:ext>
              </a:extLst>
            </p:cNvPr>
            <p:cNvSpPr/>
            <p:nvPr/>
          </p:nvSpPr>
          <p:spPr>
            <a:xfrm>
              <a:off x="9502185" y="1964388"/>
              <a:ext cx="644939" cy="530792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Snip Single Corner Rectangle 35">
              <a:extLst>
                <a:ext uri="{FF2B5EF4-FFF2-40B4-BE49-F238E27FC236}">
                  <a16:creationId xmlns:a16="http://schemas.microsoft.com/office/drawing/2014/main" id="{C7A11A4B-376D-71C5-48E7-51D69A7C706B}"/>
                </a:ext>
              </a:extLst>
            </p:cNvPr>
            <p:cNvSpPr/>
            <p:nvPr/>
          </p:nvSpPr>
          <p:spPr>
            <a:xfrm>
              <a:off x="9518229" y="2633376"/>
              <a:ext cx="644939" cy="530792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555E421-431F-A56C-E30D-6F17B25BA511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3376026" y="2324936"/>
              <a:ext cx="1495141" cy="5738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1FE4E29-3543-33D3-711B-CF076E590C21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3343728" y="2229784"/>
              <a:ext cx="1527440" cy="574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0C2A07D-F756-54EF-96A4-AD9FFE481696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3312592" y="1560796"/>
              <a:ext cx="1563268" cy="6941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C7BF6A7-D2FF-5419-0AF5-9D067AAA64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3208" y="1601105"/>
              <a:ext cx="1426284" cy="6086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54C409C-1F5D-A1DF-78F6-31A208CCC790}"/>
                </a:ext>
              </a:extLst>
            </p:cNvPr>
            <p:cNvCxnSpPr>
              <a:cxnSpLocks/>
            </p:cNvCxnSpPr>
            <p:nvPr/>
          </p:nvCxnSpPr>
          <p:spPr>
            <a:xfrm>
              <a:off x="8055744" y="2220306"/>
              <a:ext cx="1435021" cy="72042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782A983-C634-A399-45B1-A47B469101E1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>
              <a:off x="8083208" y="2210828"/>
              <a:ext cx="1418977" cy="189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4DD6395-4762-EAC6-E841-10958BEEF28A}"/>
                </a:ext>
              </a:extLst>
            </p:cNvPr>
            <p:cNvCxnSpPr>
              <a:cxnSpLocks/>
              <a:stCxn id="5" idx="0"/>
              <a:endCxn id="28" idx="2"/>
            </p:cNvCxnSpPr>
            <p:nvPr/>
          </p:nvCxnSpPr>
          <p:spPr>
            <a:xfrm>
              <a:off x="5520799" y="1560796"/>
              <a:ext cx="962209" cy="6175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F225CCF-F9D7-D3D3-424A-BD78FA3BB0F9}"/>
                </a:ext>
              </a:extLst>
            </p:cNvPr>
            <p:cNvCxnSpPr>
              <a:cxnSpLocks/>
              <a:stCxn id="6" idx="0"/>
              <a:endCxn id="28" idx="2"/>
            </p:cNvCxnSpPr>
            <p:nvPr/>
          </p:nvCxnSpPr>
          <p:spPr>
            <a:xfrm flipV="1">
              <a:off x="5516107" y="2178345"/>
              <a:ext cx="966901" cy="514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11CBE85-49D8-90BD-FAB8-853AAF503ADE}"/>
                </a:ext>
              </a:extLst>
            </p:cNvPr>
            <p:cNvCxnSpPr>
              <a:cxnSpLocks/>
              <a:stCxn id="7" idx="0"/>
              <a:endCxn id="28" idx="2"/>
            </p:cNvCxnSpPr>
            <p:nvPr/>
          </p:nvCxnSpPr>
          <p:spPr>
            <a:xfrm flipV="1">
              <a:off x="5516106" y="2178345"/>
              <a:ext cx="966902" cy="72042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76C385D-3F81-547B-FFBB-B0003B737EEB}"/>
                </a:ext>
              </a:extLst>
            </p:cNvPr>
            <p:cNvSpPr txBox="1"/>
            <p:nvPr/>
          </p:nvSpPr>
          <p:spPr>
            <a:xfrm>
              <a:off x="3439708" y="3104113"/>
              <a:ext cx="6848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4"/>
                  </a:solidFill>
                </a:rPr>
                <a:t>Fork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C0540A3-4979-D2AF-FA58-1780CC1AAE49}"/>
                </a:ext>
              </a:extLst>
            </p:cNvPr>
            <p:cNvSpPr txBox="1"/>
            <p:nvPr/>
          </p:nvSpPr>
          <p:spPr>
            <a:xfrm>
              <a:off x="8450294" y="3104113"/>
              <a:ext cx="6848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4"/>
                  </a:solidFill>
                </a:rPr>
                <a:t>Fork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BC9ADFE-E0E2-F29D-D11D-A4BB2A8795C9}"/>
                </a:ext>
              </a:extLst>
            </p:cNvPr>
            <p:cNvSpPr txBox="1"/>
            <p:nvPr/>
          </p:nvSpPr>
          <p:spPr>
            <a:xfrm>
              <a:off x="5878047" y="3104113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4"/>
                  </a:solidFill>
                </a:rPr>
                <a:t>Join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8225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D15A-C969-5A43-BD73-663D2444A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2707" y="2244534"/>
            <a:ext cx="5036937" cy="2368931"/>
          </a:xfrm>
        </p:spPr>
        <p:txBody>
          <a:bodyPr>
            <a:normAutofit/>
          </a:bodyPr>
          <a:lstStyle/>
          <a:p>
            <a:r>
              <a:rPr lang="en-US" dirty="0"/>
              <a:t>Speedup Plots</a:t>
            </a:r>
          </a:p>
        </p:txBody>
      </p:sp>
    </p:spTree>
    <p:extLst>
      <p:ext uri="{BB962C8B-B14F-4D97-AF65-F5344CB8AC3E}">
        <p14:creationId xmlns:p14="http://schemas.microsoft.com/office/powerpoint/2010/main" val="2860372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90EF67-A6E2-DB2C-DD24-2481147FABB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 small groups by table</a:t>
            </a:r>
          </a:p>
          <a:p>
            <a:r>
              <a:rPr lang="en-US" dirty="0"/>
              <a:t>We will work together to create a speedup plot</a:t>
            </a:r>
          </a:p>
          <a:p>
            <a:r>
              <a:rPr lang="en-US" dirty="0"/>
              <a:t>Each group gets a core number, your goal is to</a:t>
            </a:r>
          </a:p>
          <a:p>
            <a:pPr lvl="1"/>
            <a:r>
              <a:rPr lang="en-US" sz="2400" dirty="0"/>
              <a:t>Run the code on that many cores</a:t>
            </a:r>
          </a:p>
          <a:p>
            <a:pPr lvl="1"/>
            <a:r>
              <a:rPr lang="en-US" sz="2400" dirty="0"/>
              <a:t>Calculate speedup</a:t>
            </a:r>
          </a:p>
          <a:p>
            <a:r>
              <a:rPr lang="en-US" dirty="0"/>
              <a:t>We will make a speedup plot as a group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78205-87D0-E3A9-0C01-E67FBBB8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</p:spTree>
    <p:extLst>
      <p:ext uri="{BB962C8B-B14F-4D97-AF65-F5344CB8AC3E}">
        <p14:creationId xmlns:p14="http://schemas.microsoft.com/office/powerpoint/2010/main" val="2014221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2833A4-557A-688B-279F-FDB788CFE5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Log into Engaging</a:t>
            </a:r>
          </a:p>
          <a:p>
            <a:r>
              <a:rPr lang="en-US" dirty="0"/>
              <a:t>Copy the example repository</a:t>
            </a:r>
          </a:p>
          <a:p>
            <a:pPr lvl="1"/>
            <a:endParaRPr lang="en-US" dirty="0"/>
          </a:p>
          <a:p>
            <a:pPr marL="284155" lvl="1" indent="0">
              <a:buNone/>
            </a:pPr>
            <a:endParaRPr lang="en-US" dirty="0"/>
          </a:p>
          <a:p>
            <a:r>
              <a:rPr lang="en-US" dirty="0"/>
              <a:t>Request an interactive job with the number of cores on your card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Load the </a:t>
            </a:r>
            <a:r>
              <a:rPr lang="en-US" dirty="0" err="1"/>
              <a:t>miniforge</a:t>
            </a:r>
            <a:r>
              <a:rPr lang="en-US" dirty="0"/>
              <a:t> module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02E22F-602E-5CFD-B6CD-B9E6A45A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C1436-8B32-E27F-F406-CBCC2CB6A810}"/>
              </a:ext>
            </a:extLst>
          </p:cNvPr>
          <p:cNvSpPr txBox="1"/>
          <p:nvPr/>
        </p:nvSpPr>
        <p:spPr>
          <a:xfrm>
            <a:off x="1930128" y="3708402"/>
            <a:ext cx="8324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salloc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-p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mit_normal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-t 1:00:00 -c NUM_CORES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1A675-7B2C-4044-3ABD-B583A8C90198}"/>
              </a:ext>
            </a:extLst>
          </p:cNvPr>
          <p:cNvSpPr txBox="1"/>
          <p:nvPr/>
        </p:nvSpPr>
        <p:spPr>
          <a:xfrm>
            <a:off x="1930128" y="2435763"/>
            <a:ext cx="8324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cp -r /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orcd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/examples/001/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orcd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-tutorials $HOME/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B4AE0-9584-AE61-ABD8-BA7F7F2B42F1}"/>
              </a:ext>
            </a:extLst>
          </p:cNvPr>
          <p:cNvSpPr txBox="1"/>
          <p:nvPr/>
        </p:nvSpPr>
        <p:spPr>
          <a:xfrm>
            <a:off x="1930127" y="5334073"/>
            <a:ext cx="8324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module load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miniforge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729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097D9-F559-957C-56B5-12029DDD3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FECA8E-6407-8E17-E816-A004404457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Set OMP_NUM_THREADS to your assigned core count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the timed example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Optional: open another terminal, ssh to your assigned node and run </a:t>
            </a:r>
            <a:r>
              <a:rPr lang="en-US" dirty="0" err="1"/>
              <a:t>htop</a:t>
            </a:r>
            <a:r>
              <a:rPr lang="en-US" dirty="0"/>
              <a:t> (use instructions from the course)</a:t>
            </a:r>
          </a:p>
          <a:p>
            <a:r>
              <a:rPr lang="en-US" dirty="0"/>
              <a:t>When it completes, note down the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CFBF7-4E17-34C2-3FA3-DA8319E6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93EDD-CFEB-AB91-A509-1D1226F8C93A}"/>
              </a:ext>
            </a:extLst>
          </p:cNvPr>
          <p:cNvSpPr txBox="1"/>
          <p:nvPr/>
        </p:nvSpPr>
        <p:spPr>
          <a:xfrm>
            <a:off x="1930127" y="2068358"/>
            <a:ext cx="8324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export OMP_NUM_THREADS=NUM_CORES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2B334-3BA8-C54C-066B-2E83691A4A8F}"/>
              </a:ext>
            </a:extLst>
          </p:cNvPr>
          <p:cNvSpPr txBox="1"/>
          <p:nvPr/>
        </p:nvSpPr>
        <p:spPr>
          <a:xfrm>
            <a:off x="1930126" y="3708402"/>
            <a:ext cx="8324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python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mnist_timed.py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910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Parallel Speedup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169" y="1752600"/>
            <a:ext cx="2572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Parallel Speed Up =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8067" y="1962090"/>
            <a:ext cx="4853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Time to solution on </a:t>
            </a:r>
            <a:r>
              <a:rPr lang="en-US" sz="2000" b="1" dirty="0" err="1"/>
              <a:t>Np</a:t>
            </a:r>
            <a:r>
              <a:rPr lang="en-US" sz="2000" b="1" dirty="0"/>
              <a:t> compute cores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3962400" y="1981200"/>
            <a:ext cx="7112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508001" y="3200401"/>
            <a:ext cx="71224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Time to solution =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b="1" dirty="0"/>
              <a:t>Computations must be done sequentially, C</a:t>
            </a:r>
            <a:r>
              <a:rPr lang="en-US" sz="2000" b="1" baseline="-25000" dirty="0"/>
              <a:t>s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b="1" dirty="0"/>
              <a:t>Computations that can be computed in parallel, </a:t>
            </a:r>
            <a:r>
              <a:rPr lang="en-US" sz="2000" b="1" dirty="0" err="1"/>
              <a:t>C</a:t>
            </a:r>
            <a:r>
              <a:rPr lang="en-US" sz="2000" b="1" baseline="-25000" dirty="0" err="1"/>
              <a:t>p</a:t>
            </a:r>
            <a:endParaRPr lang="en-US" sz="2000" b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4956110" y="1524000"/>
            <a:ext cx="511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Time to solution on single compute core</a:t>
            </a:r>
          </a:p>
        </p:txBody>
      </p:sp>
    </p:spTree>
    <p:extLst>
      <p:ext uri="{BB962C8B-B14F-4D97-AF65-F5344CB8AC3E}">
        <p14:creationId xmlns:p14="http://schemas.microsoft.com/office/powerpoint/2010/main" val="2306516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Speedup: Goal and Reality</a:t>
            </a:r>
          </a:p>
        </p:txBody>
      </p:sp>
      <p:graphicFrame>
        <p:nvGraphicFramePr>
          <p:cNvPr id="103428" name="Object 4"/>
          <p:cNvGraphicFramePr>
            <a:graphicFrameLocks/>
          </p:cNvGraphicFramePr>
          <p:nvPr/>
        </p:nvGraphicFramePr>
        <p:xfrm>
          <a:off x="6013451" y="1905000"/>
          <a:ext cx="6076949" cy="431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8248557" imgH="6953312" progId="MSGraph.Chart.8">
                  <p:embed followColorScheme="full"/>
                </p:oleObj>
              </mc:Choice>
              <mc:Fallback>
                <p:oleObj name="Chart" r:id="rId3" imgW="8248557" imgH="6953312" progId="MSGraph.Chart.8">
                  <p:embed followColorScheme="full"/>
                  <p:pic>
                    <p:nvPicPr>
                      <p:cNvPr id="10342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1" y="1905000"/>
                        <a:ext cx="6076949" cy="431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9" name="Text Box 5"/>
          <p:cNvSpPr txBox="1">
            <a:spLocks noChangeAspect="1" noChangeArrowheads="1"/>
          </p:cNvSpPr>
          <p:nvPr/>
        </p:nvSpPr>
        <p:spPr bwMode="auto">
          <a:xfrm>
            <a:off x="7650827" y="5881688"/>
            <a:ext cx="2935547" cy="374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/>
              <a:t>Number of Processors</a:t>
            </a:r>
          </a:p>
        </p:txBody>
      </p:sp>
      <p:sp>
        <p:nvSpPr>
          <p:cNvPr id="103430" name="Text Box 6"/>
          <p:cNvSpPr txBox="1">
            <a:spLocks noChangeAspect="1" noChangeArrowheads="1"/>
          </p:cNvSpPr>
          <p:nvPr/>
        </p:nvSpPr>
        <p:spPr bwMode="auto">
          <a:xfrm rot="-5400000">
            <a:off x="5808240" y="3448151"/>
            <a:ext cx="1267673" cy="3744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/>
              <a:t>Speedup</a:t>
            </a:r>
          </a:p>
        </p:txBody>
      </p:sp>
      <p:sp>
        <p:nvSpPr>
          <p:cNvPr id="103431" name="Rectangle 7"/>
          <p:cNvSpPr>
            <a:spLocks noChangeArrowheads="1"/>
          </p:cNvSpPr>
          <p:nvPr/>
        </p:nvSpPr>
        <p:spPr bwMode="auto">
          <a:xfrm>
            <a:off x="304800" y="2235387"/>
            <a:ext cx="5588000" cy="2799976"/>
          </a:xfrm>
          <a:prstGeom prst="rect">
            <a:avLst/>
          </a:prstGeom>
          <a:solidFill>
            <a:srgbClr val="BFBFBF"/>
          </a:solidFill>
          <a:ln w="9525">
            <a:gradFill flip="none" rotWithShape="1">
              <a:gsLst>
                <a:gs pos="0">
                  <a:schemeClr val="tx1"/>
                </a:gs>
                <a:gs pos="88000">
                  <a:srgbClr val="FFFFFF"/>
                </a:gs>
              </a:gsLst>
              <a:path path="rect">
                <a:fillToRect l="100000" t="100000"/>
              </a:path>
              <a:tileRect r="-100000" b="-100000"/>
            </a:gra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lIns="92064" tIns="46033" rIns="92064" bIns="46033"/>
          <a:lstStyle/>
          <a:p>
            <a:pPr marL="349250" indent="-285750">
              <a:lnSpc>
                <a:spcPct val="90000"/>
              </a:lnSpc>
              <a:spcBef>
                <a:spcPct val="25000"/>
              </a:spcBef>
              <a:buSzPct val="100000"/>
              <a:buFont typeface="Arial"/>
              <a:buChar char="•"/>
            </a:pPr>
            <a:r>
              <a:rPr lang="en-US" b="1" dirty="0"/>
              <a:t>Linear  is ideal</a:t>
            </a:r>
          </a:p>
          <a:p>
            <a:pPr marL="349250" indent="-285750">
              <a:lnSpc>
                <a:spcPct val="90000"/>
              </a:lnSpc>
              <a:spcBef>
                <a:spcPct val="25000"/>
              </a:spcBef>
              <a:buSzPct val="100000"/>
              <a:buFont typeface="Arial"/>
              <a:buChar char="•"/>
            </a:pPr>
            <a:r>
              <a:rPr lang="en-US" b="1" dirty="0" err="1">
                <a:solidFill>
                  <a:srgbClr val="0000FF"/>
                </a:solidFill>
              </a:rPr>
              <a:t>Superlinear</a:t>
            </a:r>
            <a:r>
              <a:rPr lang="en-US" b="1" dirty="0">
                <a:solidFill>
                  <a:srgbClr val="0000FF"/>
                </a:solidFill>
              </a:rPr>
              <a:t> is achievable in some circumstances</a:t>
            </a:r>
          </a:p>
          <a:p>
            <a:pPr marL="349250" indent="-285750">
              <a:lnSpc>
                <a:spcPct val="90000"/>
              </a:lnSpc>
              <a:spcBef>
                <a:spcPct val="25000"/>
              </a:spcBef>
              <a:buSzPct val="100000"/>
              <a:buFont typeface="Arial"/>
              <a:buChar char="•"/>
            </a:pPr>
            <a:r>
              <a:rPr lang="en-US" b="1" dirty="0" err="1">
                <a:solidFill>
                  <a:srgbClr val="800000"/>
                </a:solidFill>
              </a:rPr>
              <a:t>Sublinear</a:t>
            </a:r>
            <a:r>
              <a:rPr lang="en-US" b="1" dirty="0">
                <a:solidFill>
                  <a:srgbClr val="800000"/>
                </a:solidFill>
              </a:rPr>
              <a:t> is acceptable in most circumstances</a:t>
            </a:r>
          </a:p>
          <a:p>
            <a:pPr marL="349250" indent="-285750">
              <a:lnSpc>
                <a:spcPct val="90000"/>
              </a:lnSpc>
              <a:spcBef>
                <a:spcPct val="25000"/>
              </a:spcBef>
              <a:buSzPct val="100000"/>
              <a:buFont typeface="Arial"/>
              <a:buChar char="•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Saturated is </a:t>
            </a:r>
          </a:p>
          <a:p>
            <a:pPr marL="806450" lvl="1" indent="-285750">
              <a:lnSpc>
                <a:spcPct val="90000"/>
              </a:lnSpc>
              <a:spcBef>
                <a:spcPct val="25000"/>
              </a:spcBef>
              <a:buSzPct val="100000"/>
              <a:buFont typeface="Arial"/>
              <a:buChar char="•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Usually due to communication</a:t>
            </a:r>
          </a:p>
          <a:p>
            <a:pPr marL="806450" lvl="1" indent="-285750">
              <a:lnSpc>
                <a:spcPct val="90000"/>
              </a:lnSpc>
              <a:spcBef>
                <a:spcPct val="25000"/>
              </a:spcBef>
              <a:buSzPct val="100000"/>
              <a:buFont typeface="Arial"/>
              <a:buChar char="•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Also referred to as speed-down</a:t>
            </a:r>
          </a:p>
        </p:txBody>
      </p:sp>
    </p:spTree>
    <p:extLst>
      <p:ext uri="{BB962C8B-B14F-4D97-AF65-F5344CB8AC3E}">
        <p14:creationId xmlns:p14="http://schemas.microsoft.com/office/powerpoint/2010/main" val="415205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D15A-C969-5A43-BD73-663D2444A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F5272B-EC6C-2E5A-716C-15494005CC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57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CCE3AB-DE37-A64C-69F6-780533B4AE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Pick an existing application and work towards scaling it up</a:t>
            </a:r>
          </a:p>
          <a:p>
            <a:r>
              <a:rPr lang="en-US" dirty="0"/>
              <a:t>Milestones:</a:t>
            </a:r>
          </a:p>
          <a:p>
            <a:pPr lvl="1"/>
            <a:r>
              <a:rPr lang="en-US" sz="2400" dirty="0"/>
              <a:t>Week 1: Run in serial on SuperCloud or other ORCD system. Identify your workflow.</a:t>
            </a:r>
          </a:p>
          <a:p>
            <a:pPr lvl="1"/>
            <a:r>
              <a:rPr lang="en-US" sz="2400" b="1" dirty="0"/>
              <a:t>Week 2: Time and evaluate your serial code, determine what resources you need.</a:t>
            </a:r>
          </a:p>
          <a:p>
            <a:pPr lvl="1"/>
            <a:r>
              <a:rPr lang="en-US" sz="2400" dirty="0"/>
              <a:t>Week 3: Come up with a plan for scaling up. Run your application as a job through the scheduler. Start working on scaling up.</a:t>
            </a:r>
          </a:p>
          <a:p>
            <a:pPr lvl="1"/>
            <a:r>
              <a:rPr lang="en-US" sz="2400" dirty="0"/>
              <a:t>Week 4: Continue working on scaling up. Present on your work so far. Write a report on your project.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8F348E-59AF-2234-4943-D794F69D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214310039"/>
      </p:ext>
    </p:extLst>
  </p:cSld>
  <p:clrMapOvr>
    <a:masterClrMapping/>
  </p:clrMapOvr>
</p:sld>
</file>

<file path=ppt/theme/theme1.xml><?xml version="1.0" encoding="utf-8"?>
<a:theme xmlns:a="http://schemas.openxmlformats.org/drawingml/2006/main" name="ORCD_Official_LLSC_Theme">
  <a:themeElements>
    <a:clrScheme name="MIT ORC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2A79D"/>
      </a:accent1>
      <a:accent2>
        <a:srgbClr val="F7941D"/>
      </a:accent2>
      <a:accent3>
        <a:srgbClr val="662C91"/>
      </a:accent3>
      <a:accent4>
        <a:srgbClr val="099344"/>
      </a:accent4>
      <a:accent5>
        <a:srgbClr val="00AEEE"/>
      </a:accent5>
      <a:accent6>
        <a:srgbClr val="0E74BC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CD_Official_LLSC_Theme" id="{982C8A2C-7A8A-4842-8D8A-02B509286166}" vid="{2691D57D-6C62-A14E-A653-4D2596B5E0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ORCD_Official_LLSC_Theme</Template>
  <TotalTime>92984</TotalTime>
  <Words>1157</Words>
  <Application>Microsoft Macintosh PowerPoint</Application>
  <PresentationFormat>Widescreen</PresentationFormat>
  <Paragraphs>198</Paragraphs>
  <Slides>19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Consolas</vt:lpstr>
      <vt:lpstr>Neue Haas Grotesk Text Pro</vt:lpstr>
      <vt:lpstr>Wingdings</vt:lpstr>
      <vt:lpstr>ORCD_Official_LLSC_Theme</vt:lpstr>
      <vt:lpstr>Chart</vt:lpstr>
      <vt:lpstr>Practical High Performance Computing </vt:lpstr>
      <vt:lpstr>Overall Schedule</vt:lpstr>
      <vt:lpstr>Schedule Thursday January 22, 2026</vt:lpstr>
      <vt:lpstr>Asynchronous Q&amp;A</vt:lpstr>
      <vt:lpstr>Workflow Activity</vt:lpstr>
      <vt:lpstr>Case Study 1</vt:lpstr>
      <vt:lpstr>Case Study 1: Exemplar High Throughput Computing </vt:lpstr>
      <vt:lpstr>Case Study 2</vt:lpstr>
      <vt:lpstr>Case Study 2: Loosely Coupled Computing</vt:lpstr>
      <vt:lpstr>Case Study 3</vt:lpstr>
      <vt:lpstr>Case Study 3: Parallel Computing</vt:lpstr>
      <vt:lpstr>Speedup Plots</vt:lpstr>
      <vt:lpstr>The Plan</vt:lpstr>
      <vt:lpstr>Getting Started</vt:lpstr>
      <vt:lpstr>Run the Example</vt:lpstr>
      <vt:lpstr>Definition: Parallel Speedup</vt:lpstr>
      <vt:lpstr>Parallel Speedup: Goal and Reality</vt:lpstr>
      <vt:lpstr>Projects</vt:lpstr>
      <vt:lpstr>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E Milechin</dc:creator>
  <cp:lastModifiedBy>Lauren Milechin</cp:lastModifiedBy>
  <cp:revision>190</cp:revision>
  <cp:lastPrinted>2019-01-08T16:38:18Z</cp:lastPrinted>
  <dcterms:created xsi:type="dcterms:W3CDTF">2018-04-18T15:49:56Z</dcterms:created>
  <dcterms:modified xsi:type="dcterms:W3CDTF">2026-01-06T20:11:13Z</dcterms:modified>
</cp:coreProperties>
</file>